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Host Grotesk Medium" panose="020B0604020202020204" charset="0"/>
      <p:regular r:id="rId17"/>
    </p:embeddedFont>
    <p:embeddedFont>
      <p:font typeface="Roboto" panose="02000000000000000000" pitchFamily="2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60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22496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Enhancing RemoteCLIP for Vision-Language Retrieval in Remote Sensing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4141946"/>
            <a:ext cx="997850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Enrichment, Synthetic Generation &amp; Parameter-Efficient Fine-Tuning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811673"/>
            <a:ext cx="1304282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Ansh Nohria</a:t>
            </a:r>
            <a:b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2022B5A71614P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8056" y="438626"/>
            <a:ext cx="13354288" cy="997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Background &amp; Motivation: Bridging the Gap in Remote Sensing Vision-Language Models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38056" y="1834277"/>
            <a:ext cx="4317563" cy="249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 Statement: Addressing Key Limitations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38056" y="2242899"/>
            <a:ext cx="6482596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Scarcity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Remote Sensing (RS) datasets (e.g., RSICD: 10.9K, UCM-Captions: 2.1K images) are significantly smaller—orders of magnitude—compared to the vast natural image datasets used for pre-training. This limits the training of robust, domain-specific models.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8056" y="3255883"/>
            <a:ext cx="6482596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Caption Quality Limitations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Existing captions are often generic, single-sentence descriptions. They typically lack critical details such as object counts, precise spatial relationships, and fine-grained visual attributes, which are essential for rich vision-language understanding.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8056" y="4268867"/>
            <a:ext cx="6482596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 Gap Challenge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Models pre-trained on natural images exhibit a significant representation misalignment when applied to remote sensing data. The unique characteristics of aerial and satellite imagery require specialized understanding not captured by general image features.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8056" y="5281851"/>
            <a:ext cx="6482596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Grounding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Current models often fail to establish a direct connection between the textual descriptions in captions and the specific visual object locations within the image. This absence of grounding hinders precise retrieval and interpretation tasks.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17368" y="1834277"/>
            <a:ext cx="5354717" cy="249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Current Baseline Performance: The Need for Advancement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17368" y="2242899"/>
            <a:ext cx="6482596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5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RemoteCLIP's 54.75% mean recall (R@1=20%, R@5=57%) falls short of practical deployment requirements, where R@5 &gt; 70% (top-5 success rate) is typically needed for user-acceptance without extensive manual review.</a:t>
            </a: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368" y="3379589"/>
            <a:ext cx="6482596" cy="315158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16434" y="6531173"/>
            <a:ext cx="159425" cy="159425"/>
          </a:xfrm>
          <a:prstGeom prst="roundRect">
            <a:avLst>
              <a:gd name="adj" fmla="val 11471"/>
            </a:avLst>
          </a:prstGeom>
          <a:solidFill>
            <a:srgbClr val="1431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836819" y="6531173"/>
            <a:ext cx="1845588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RemoteCLIP Performance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834807" y="6531173"/>
            <a:ext cx="159425" cy="159425"/>
          </a:xfrm>
          <a:prstGeom prst="roundRect">
            <a:avLst>
              <a:gd name="adj" fmla="val 11471"/>
            </a:avLst>
          </a:prstGeom>
          <a:solidFill>
            <a:srgbClr val="2966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1055191" y="6531173"/>
            <a:ext cx="1335524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Deployment Target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517368" y="7014576"/>
            <a:ext cx="6482596" cy="776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visual above illustrates the gap between the current state-of-the-art in remote sensing vision-language models and the performance required for practical, real-world deployment. Bridging this gap is the core motivation of our research.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0268"/>
            <a:ext cx="1039558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Research Contributions &amp; Approach Overview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07181"/>
            <a:ext cx="4347567" cy="793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3199328"/>
            <a:ext cx="395085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Enriched Caption Generation (</a:t>
            </a:r>
            <a:r>
              <a:rPr lang="en-US" sz="1950" dirty="0">
                <a:solidFill>
                  <a:srgbClr val="384653"/>
                </a:solidFill>
                <a:highlight>
                  <a:srgbClr val="FFFF00"/>
                </a:highlight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M2B</a:t>
            </a:r>
            <a:r>
              <a:rPr lang="en-US" sz="1950" dirty="0">
                <a:solidFill>
                  <a:srgbClr val="000000"/>
                </a:solidFill>
                <a:highlight>
                  <a:srgbClr val="FFFF00"/>
                </a:highlight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↔</a:t>
            </a:r>
            <a:r>
              <a:rPr lang="en-US" sz="1950" dirty="0">
                <a:solidFill>
                  <a:srgbClr val="384653"/>
                </a:solidFill>
                <a:highlight>
                  <a:srgbClr val="FFFF00"/>
                </a:highlight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B2C </a:t>
            </a: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Pipeline)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92148" y="3938707"/>
            <a:ext cx="3950851" cy="2083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pipeline augments existing captions, increasing information density by </a:t>
            </a: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3-4 times</a:t>
            </a: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This process ensures authenticity through object-grounded descriptions, providing richer contextual information. We project an improvement of </a:t>
            </a: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+0.66 percentage points (pp)</a:t>
            </a: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this alone.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207181"/>
            <a:ext cx="4347567" cy="793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39715" y="3199328"/>
            <a:ext cx="395085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Optimized Synthetic RS Pipeline (5-Stage)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339715" y="3938706"/>
            <a:ext cx="3950851" cy="238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developed an efficient 5-stage pipeline for synthetic remote sensing data generation that removes the need for expensive LLM-based prompt synthesis by chaining Real-ESRGAN, Qwen2‑VL, Grounding DINO, SAM, and Stable Diffusion 3.5 in a strictly sequential workflow from upscaling to conditioned image synthesis. </a:t>
            </a: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207181"/>
            <a:ext cx="4347567" cy="7937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7282" y="3199328"/>
            <a:ext cx="395085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Parameter-Efficient LoRA Fine-Tuning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87282" y="3938707"/>
            <a:ext cx="4049266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approach utilizes Low-Rank Adaptation (LoRA) for fine-tuning, requiring only </a:t>
            </a: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million trainable parameters</a:t>
            </a: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 mere 1.6% of the 500 million total). This strategy preserves zero-shot capabilities and employs a hybrid real-synthetic data strategy, projected to yield a good </a:t>
            </a:r>
            <a:r>
              <a:rPr lang="en-US" sz="1550" b="1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pp mean recall improvement</a:t>
            </a:r>
            <a:r>
              <a:rPr lang="en-US" sz="1550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. [ how was it observed? </a:t>
            </a:r>
            <a:r>
              <a:rPr lang="en-US" sz="1550" dirty="0" err="1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Numbe</a:t>
            </a:r>
            <a:r>
              <a:rPr lang="en-US" sz="1550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of data? ) </a:t>
            </a:r>
            <a:endParaRPr lang="en-US" sz="155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 7"/>
          <p:cNvSpPr/>
          <p:nvPr/>
        </p:nvSpPr>
        <p:spPr>
          <a:xfrm>
            <a:off x="793790" y="7427934"/>
            <a:ext cx="13042821" cy="32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three interconnected contributions form a comprehensive strategy to significantly advance vision-language models in remote sensing.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939" y="564713"/>
            <a:ext cx="12779931" cy="510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1 — Baseline Validation: Replicating RemoteCLIP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2939" y="1140143"/>
            <a:ext cx="2040374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Experimental Setup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2939" y="1639967"/>
            <a:ext cx="1332452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UCM-Captions, comprising 2,100 remote sensing images across 21 distinct land-use categories. This dataset is a standard benchmark for RS captioning and retrieval.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2939" y="1941790"/>
            <a:ext cx="13324523" cy="48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Architecture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RemoteCLIP, featuring a ResNet-50 vision encoder for visual feature extraction and a Transformer text encoder for linguistic feature processing. This combination is widely used in vision-language tasks.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2939" y="2488406"/>
            <a:ext cx="13324523" cy="48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Parameters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The model was trained for 50 epochs using a batch size of 256. The AdamW optimizer was employed for efficient convergence, and the InfoNCE contrastive loss function was utilized to align visual and textual embeddings.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2939" y="3035022"/>
            <a:ext cx="13324523" cy="48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 Metrics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Performance was assessed using a suite of retrieval mean recall metrics (Image-to-Text (I→T) and Text-to-Image (T→I) at K=1, 5, 10). Additionally, Zero-Shot Classification, k-NN Classification, and Few-Shot Linear Probe were used to evaluate broader generalization capabilities.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2939" y="3769400"/>
            <a:ext cx="3204567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Results Table – Baseline Validation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2939" y="4269224"/>
            <a:ext cx="13324523" cy="2294096"/>
          </a:xfrm>
          <a:prstGeom prst="roundRect">
            <a:avLst>
              <a:gd name="adj" fmla="val 298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0559" y="4276844"/>
            <a:ext cx="13309283" cy="4557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3913" y="4382333"/>
            <a:ext cx="2997041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55043" y="4382333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Result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50700" y="4382333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46356" y="4382333"/>
            <a:ext cx="2460784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741229" y="4382333"/>
            <a:ext cx="206537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0559" y="4732615"/>
            <a:ext cx="13309283" cy="4557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3913" y="4838105"/>
            <a:ext cx="2997041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Retrieval Mean Recall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55043" y="4838105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54.75%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50700" y="4838105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54.12%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46356" y="4838105"/>
            <a:ext cx="2460784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008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+0.63pp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741229" y="4838105"/>
            <a:ext cx="206537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0559" y="5188387"/>
            <a:ext cx="13309283" cy="4557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3913" y="5293876"/>
            <a:ext cx="2997041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Zero-Shot Accuracy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55043" y="5293876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93.28%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50700" y="5293876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96.12%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946356" y="5293876"/>
            <a:ext cx="2460784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-2.84pp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741229" y="5293876"/>
            <a:ext cx="206537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0559" y="5644158"/>
            <a:ext cx="13309283" cy="4557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23913" y="5749647"/>
            <a:ext cx="2997041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k-NN Accuracy (k=20)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155043" y="5749647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97.41%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50700" y="5749647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94.10%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946356" y="5749647"/>
            <a:ext cx="2460784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008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+3.31pp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741229" y="5749647"/>
            <a:ext cx="206537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0559" y="6099929"/>
            <a:ext cx="13309283" cy="4557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23913" y="6205418"/>
            <a:ext cx="2997041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Few-Shot (32 examples)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155043" y="6205418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94.50%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550700" y="6205418"/>
            <a:ext cx="206156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94.50%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946356" y="6205418"/>
            <a:ext cx="2460784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0.00pp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741229" y="6205418"/>
            <a:ext cx="206537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52939" y="6746915"/>
            <a:ext cx="13324523" cy="48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Key Finding</a:t>
            </a:r>
            <a:r>
              <a:rPr lang="en-US" sz="1250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: The close alignment of our experimental results with published baselines for RemoteCLIP—especially the </a:t>
            </a:r>
            <a:r>
              <a:rPr lang="en-US" sz="1250" b="1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54.75% mean recall</a:t>
            </a:r>
            <a:r>
              <a:rPr lang="en-US" sz="1250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—validates our replication methodology. This robust validation confirms our experimental setup is reliable, and we are ready to proceed with proposed enhancements. </a:t>
            </a:r>
            <a:r>
              <a:rPr lang="en-US" sz="1250" dirty="0">
                <a:solidFill>
                  <a:srgbClr val="FF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  <a:sym typeface="Wingdings" panose="05000000000000000000" pitchFamily="2" charset="2"/>
              </a:rPr>
              <a:t> this is verifying Remote Clip? </a:t>
            </a:r>
            <a:endParaRPr lang="en-US" sz="125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1" name="Text 39"/>
          <p:cNvSpPr/>
          <p:nvPr/>
        </p:nvSpPr>
        <p:spPr>
          <a:xfrm>
            <a:off x="652939" y="7420094"/>
            <a:ext cx="1332452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Replication Validated – Ready for Enhancements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6984" y="676632"/>
            <a:ext cx="13356431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2 — Data Enrichment: M2B+B2C Pipeline &amp; Architecture Benchmarking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36984" y="2070021"/>
            <a:ext cx="453247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Enrichment Process (M2B + B2C Combined)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36984" y="2478048"/>
            <a:ext cx="6484025" cy="477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novel </a:t>
            </a: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Mask-to-Box (M2B) + Box-to-Caption (B2C)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pipeline is designed to significantly enhance the information density and grounding of remote sensing image captions.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6984" y="3099197"/>
            <a:ext cx="6484025" cy="955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M2B Stage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This stage processes instance segmentation masks to generate precise bounding boxes. We employ a confidence threshold of 0.7 and a Non-Maximum Suppression (NMS) IoU of 0.5 to ensure high-quality object localization within the image.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6984" y="4110752"/>
            <a:ext cx="6484025" cy="955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B2C Stage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Leveraging these bounding boxes, along with their associated class embeddings and spatial coordinates, a Transformer encoder-decoder architecture generates object-centric descriptions. These descriptions explicitly incorporate spatial relationships, transforming generic captions into rich, detailed narratives.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6984" y="5209818"/>
            <a:ext cx="6484025" cy="477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primary output of this pipeline is a set of </a:t>
            </a: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object-grounded, enriched captions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applied specifically to the RSICD dataset, enabling a deeper understanding of image content.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6984" y="5846921"/>
            <a:ext cx="409932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Visual Example: Original vs. Enriched Caption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75824" y="6274832"/>
            <a:ext cx="6245185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Original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"Aerial view"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5824" y="6657023"/>
            <a:ext cx="6245185" cy="71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Enriched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"Densely packed residential area with organized grid streets, visible infrastructure, multiple residential buildings distributed across the scene, with vehicles parked on the roads and green spaces interspersed."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6984" y="6274832"/>
            <a:ext cx="22860" cy="1099066"/>
          </a:xfrm>
          <a:prstGeom prst="rect">
            <a:avLst/>
          </a:prstGeom>
          <a:solidFill>
            <a:srgbClr val="95CC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517011" y="2070021"/>
            <a:ext cx="362878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M2B+B2C Enrichment Impact on RSICD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517011" y="2497931"/>
            <a:ext cx="6484025" cy="2957989"/>
          </a:xfrm>
          <a:prstGeom prst="roundRect">
            <a:avLst>
              <a:gd name="adj" fmla="val 22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524631" y="2505551"/>
            <a:ext cx="6468785" cy="4451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684175" y="2608659"/>
            <a:ext cx="12949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Objects per image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05092" y="2608659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2.7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22198" y="2608659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539305" y="2608659"/>
            <a:ext cx="12949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+355% 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⬆️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24631" y="2950726"/>
            <a:ext cx="6468785" cy="6841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684175" y="3053834"/>
            <a:ext cx="1294924" cy="477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Captions per image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05092" y="3053834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922198" y="3053834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15.2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539305" y="3053834"/>
            <a:ext cx="12949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+204% 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⬆️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24631" y="3634859"/>
            <a:ext cx="6468785" cy="6841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684175" y="3737967"/>
            <a:ext cx="1294924" cy="477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caption length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305092" y="3737967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10.8 words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922198" y="3737967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23.4 words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539305" y="3737967"/>
            <a:ext cx="12949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+116% 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⬆️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524631" y="4318992"/>
            <a:ext cx="6468785" cy="4451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684175" y="4422100"/>
            <a:ext cx="12949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Vocabulary size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305092" y="4422100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1,203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922198" y="4422100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3,847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539305" y="4422100"/>
            <a:ext cx="12949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+219% 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⬆️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524631" y="4764167"/>
            <a:ext cx="6468785" cy="6841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684175" y="4867275"/>
            <a:ext cx="1294924" cy="477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Spatial descriptions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305092" y="4867275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 (12%)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922198" y="4867275"/>
            <a:ext cx="129111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78 (78%)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2539305" y="4867275"/>
            <a:ext cx="12949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+550% 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⬆️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517011" y="5634990"/>
            <a:ext cx="6484025" cy="955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Our M2B+B2C pipeline achieves a remarkable </a:t>
            </a: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3-4× information density gain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captions while rigorously maintaining their authenticity and visual grounding. This enhancement is crucial for developing more intelligent and context-aware remote sensing models.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6982" y="547926"/>
            <a:ext cx="10214967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F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2C — Architecture Benchmarking on Enriched Data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16982" y="1091565"/>
            <a:ext cx="529006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Experiment: Evaluating RS-Specific Architecture Importance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16982" y="1564005"/>
            <a:ext cx="1339643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validate the crucial role of remote sensing-specific architectures, we conducted an experiment training three distinct models on our newly enriched RSICD dataset. This comparative analysis highlights the performance differences between domain-adapted and general-purpose vision-language models when exposed to high-density, object-grounded captions.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6982" y="2258258"/>
            <a:ext cx="287976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Architecture Comparison Results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6982" y="2730698"/>
            <a:ext cx="13396436" cy="1541859"/>
          </a:xfrm>
          <a:prstGeom prst="roundRect">
            <a:avLst>
              <a:gd name="adj" fmla="val 420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24602" y="2738318"/>
            <a:ext cx="13385125" cy="4317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8907" y="2838450"/>
            <a:ext cx="159996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RemoteCLIP (Baseline)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94861" y="2838450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20.48%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07004" y="2838450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53.81%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19148" y="2838450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17.52%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31292" y="2838450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61.14%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43436" y="2838450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54.75%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55579" y="2838450"/>
            <a:ext cx="159996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4602" y="3170039"/>
            <a:ext cx="13385125" cy="6631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8907" y="3270171"/>
            <a:ext cx="159996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RemoteCLIP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4861" y="3270171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18.50%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07004" y="3270171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50.00%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9148" y="3270171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16.54%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31292" y="3270171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62.00%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43436" y="3270171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55.41%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255579" y="3270171"/>
            <a:ext cx="159996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8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+0.66pp 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02" y="3833217"/>
            <a:ext cx="13385125" cy="4317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8907" y="3933349"/>
            <a:ext cx="159996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CLIP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94861" y="3933349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15.76%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07004" y="3933349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42.38%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19148" y="3933349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14.54%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31292" y="3933349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51.75%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43436" y="3933349"/>
            <a:ext cx="159615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46.83%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255579" y="3933349"/>
            <a:ext cx="159996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-7.92pp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6982" y="4503896"/>
            <a:ext cx="19282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Critical Findings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6982" y="4976336"/>
            <a:ext cx="1339643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substantial </a:t>
            </a: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8.58-point gap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was observed between the domain-specific Embedded RemoteCLIP (55.41% mean recall) and the general-purpose Embedded CLIP (46.83% mean recall). This empirically demonstrates that </a:t>
            </a: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RS-specific pre-training is absolutely essential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effective remote sensing understanding and accurate vision-language retrieval.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6982" y="5493187"/>
            <a:ext cx="1339643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Embedded RemoteCLIP, leveraging our enriched data, achieved a modest but significant </a:t>
            </a: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+0.66pp improvement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over the baseline. This result validates the tangible value of our M2B+B2C data enrichment pipeline.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6982" y="6010037"/>
            <a:ext cx="13396436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Conversely, the Embedded CLIP experienced a considerable </a:t>
            </a: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7.92pp drop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performance, further solidifying the necessity of domain-specific adaptation for remote sensing tasks.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6982" y="6414968"/>
            <a:ext cx="13396436" cy="1266706"/>
          </a:xfrm>
          <a:prstGeom prst="roundRect">
            <a:avLst>
              <a:gd name="adj" fmla="val 5115"/>
            </a:avLst>
          </a:prstGeom>
          <a:solidFill>
            <a:srgbClr val="C6E4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68" y="6621780"/>
            <a:ext cx="240983" cy="19276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166336" y="6607612"/>
            <a:ext cx="658082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Conclusion: Data Enrichment + RS-Specific Encoders = Performance Gains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1166336" y="7002899"/>
            <a:ext cx="1269289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phase conclusively demonstrates that combining our data enrichment strategy (M2B+B2C pipeline) with inherently remote sensing-specific encoders (RemoteCLIP) is a critical and effective approach for achieving significant performance gains in vision-language retrieval within the remote sensing domain.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846" y="589478"/>
            <a:ext cx="13280708" cy="105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3 — Optimized 5-Stage Synthetic Data Generation Pipeline (Part 1: Overview &amp; Stages 1-3)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4846" y="1981319"/>
            <a:ext cx="13280708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comprehensive 5-stage pipeline is engineered for generating high-quality synthetic remote sensing data, crucially </a:t>
            </a:r>
            <a:r>
              <a:rPr lang="en-US" sz="13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relying on expensive LLM-based prompt engineering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This innovative approach ensures scalability and cost-efficiency.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74846" y="2677120"/>
            <a:ext cx="13280708" cy="2945249"/>
          </a:xfrm>
          <a:prstGeom prst="roundRect">
            <a:avLst>
              <a:gd name="adj" fmla="val 240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2466" y="2684740"/>
            <a:ext cx="13265468" cy="4706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51535" y="2793563"/>
            <a:ext cx="321945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18523" y="2793563"/>
            <a:ext cx="2042636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Real-ESRGAN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06202" y="2793563"/>
            <a:ext cx="1910001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Upscale + detail recovery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61246" y="2793563"/>
            <a:ext cx="2308027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2-4× upscale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14316" y="2793563"/>
            <a:ext cx="2308027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2048×2048 images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67386" y="2793563"/>
            <a:ext cx="2311837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2-3 sec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2466" y="3155394"/>
            <a:ext cx="13265468" cy="14826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51535" y="3264218"/>
            <a:ext cx="321945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18523" y="3264218"/>
            <a:ext cx="2042636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Qwen2-VL-2B-Instruct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06202" y="3264218"/>
            <a:ext cx="1910001" cy="126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detailed aerial descriptions: scene type, visible objects with counts, spatial layout patterns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61246" y="3264218"/>
            <a:ext cx="2308027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2B params, M-RoPE, 6-8GB VRAM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14316" y="3264218"/>
            <a:ext cx="2308027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100-200 word descriptions, 3× vocabulary diversity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67386" y="3264218"/>
            <a:ext cx="2311837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3-5 sec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2466" y="4638080"/>
            <a:ext cx="13265468" cy="9766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51535" y="4746903"/>
            <a:ext cx="321945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18523" y="4746903"/>
            <a:ext cx="2042636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Grounding DINO 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06202" y="4746903"/>
            <a:ext cx="1910001" cy="759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Zero-shot detection (building, road, vehicle, tree, water, field)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61246" y="4746903"/>
            <a:ext cx="2308027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Conf: 0.35, Text: 0.25, NMS IoU: 0.5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14316" y="4746903"/>
            <a:ext cx="2308027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Bounding boxes + class labels + confidence scores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67386" y="4746903"/>
            <a:ext cx="2311837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2-3 sec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4846" y="5812155"/>
            <a:ext cx="13280708" cy="1385173"/>
          </a:xfrm>
          <a:prstGeom prst="roundRect">
            <a:avLst>
              <a:gd name="adj" fmla="val 5116"/>
            </a:avLst>
          </a:prstGeom>
          <a:solidFill>
            <a:srgbClr val="C6E4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58" y="6036588"/>
            <a:ext cx="263604" cy="2108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5874" y="6023015"/>
            <a:ext cx="428839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Stage 2 Prompt Example (Qwen2-VL Input):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275874" y="6455212"/>
            <a:ext cx="12510968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"Analyze this aerial/satellite image comprehensively: Scene type and geographic characteristics. Visible objects with approximate counts. Spatial layout and arrangement patterns. Provide specific, quantitative descriptions."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74846" y="7387114"/>
            <a:ext cx="13280708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Progress: Stage 1/5 </a:t>
            </a:r>
            <a:r>
              <a:rPr lang="en-US" sz="1300" dirty="0">
                <a:solidFill>
                  <a:srgbClr val="64B8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➔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Stage 2/5 </a:t>
            </a:r>
            <a:r>
              <a:rPr lang="en-US" sz="1300" dirty="0">
                <a:solidFill>
                  <a:srgbClr val="64B8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➔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Stage 3/5 ...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259" y="375523"/>
            <a:ext cx="13537883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3 — Optimized 5-Stage Synthetic Data Generation Pipeline (Part 2: Stages 4-5 &amp; Quality Assurance)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46259" y="1502331"/>
            <a:ext cx="135378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Continuing our 5-stage pipeline, the final stages focus on precise localization, high-fidelity image synthesis, and rigorous quality assurance.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6259" y="1860709"/>
            <a:ext cx="13537883" cy="1397318"/>
          </a:xfrm>
          <a:prstGeom prst="roundRect">
            <a:avLst>
              <a:gd name="adj" fmla="val 410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53879" y="1868329"/>
            <a:ext cx="13522643" cy="7934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90801" y="1957864"/>
            <a:ext cx="399098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70648" y="1957864"/>
            <a:ext cx="215324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SAM-ViT-Base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04642" y="1957864"/>
            <a:ext cx="201799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Pixel-precise segmentation + spatial metadata extraction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03382" y="1957864"/>
            <a:ext cx="242375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Via Grounding DINO bounding boxes as prompts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807887" y="1957864"/>
            <a:ext cx="2423755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Segmentation masks, object locations, sizes, arrangement patterns, proximity relationships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512391" y="1957864"/>
            <a:ext cx="242756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1-2 sec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879" y="2661761"/>
            <a:ext cx="13522643" cy="5886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90801" y="2751296"/>
            <a:ext cx="399098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70648" y="2751296"/>
            <a:ext cx="215324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Diffusion 3.5 Medium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04642" y="2751296"/>
            <a:ext cx="201799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Synthesize high-fidelity aerial images from descriptions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03382" y="2751296"/>
            <a:ext cx="242375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1024×1024 resolution, 28 inference steps, guidance scale 4.5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07887" y="2751296"/>
            <a:ext cx="242375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Synthetic RS images with high visual-textual coherence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512391" y="2751296"/>
            <a:ext cx="242756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20-30 sec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6259" y="3411617"/>
            <a:ext cx="135378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Progress: ... Stage 4/5 </a:t>
            </a:r>
            <a:r>
              <a:rPr lang="en-US" sz="1050" dirty="0">
                <a:solidFill>
                  <a:srgbClr val="64B8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➔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Stage 5/5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6259" y="3821192"/>
            <a:ext cx="2074545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Total Pipeline Performance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6259" y="4239339"/>
            <a:ext cx="135378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Per-image generation time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Approximately 28-42 seconds, ensuring rapid dataset expansion.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6259" y="4491871"/>
            <a:ext cx="135378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Large-scale generation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Producing 150,000 images in parallel (using 8× A100 GPUs) takes only 14-22 hours.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6259" y="4744403"/>
            <a:ext cx="135378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GPU-hours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Estimated at 110-175 hours on 8× A100 GPUs for a substantial synthetic dataset.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6259" y="5153978"/>
            <a:ext cx="4354354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Why Stable Diffusion 3.5 Medium: A Model Comparison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6259" y="5572125"/>
            <a:ext cx="13537883" cy="1934528"/>
          </a:xfrm>
          <a:prstGeom prst="roundRect">
            <a:avLst>
              <a:gd name="adj" fmla="val 296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53879" y="5579745"/>
            <a:ext cx="13522643" cy="3838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90443" y="5669280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License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74914" y="5669280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Apache 2.0 (Open)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55575" y="5669280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Permissive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836235" y="5669280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Non-standard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3879" y="5963602"/>
            <a:ext cx="13522643" cy="3838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90443" y="6053138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074914" y="6053138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1024×1024 native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55575" y="6053138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1024×1024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836235" y="6053138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53879" y="6347460"/>
            <a:ext cx="13522643" cy="3838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90443" y="6436995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074914" y="6436995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20-30 sec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55575" y="6436995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2-5 sec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836235" y="6436995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53879" y="6731318"/>
            <a:ext cx="13522643" cy="3838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90443" y="6820853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074914" y="6820853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Excellent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455575" y="6820853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836235" y="6820853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Decent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53879" y="7115175"/>
            <a:ext cx="13522643" cy="3838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90443" y="7204710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RS-Specific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074914" y="7204710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008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455575" y="7204710"/>
            <a:ext cx="309991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(generic)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836235" y="7204710"/>
            <a:ext cx="310372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Broken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46259" y="7660243"/>
            <a:ext cx="135378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Selected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en-US" sz="1050" dirty="0">
                <a:solidFill>
                  <a:srgbClr val="008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Diffusion 3.5 Medium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provides the optimal balance of quality, efficiency, and suitability for remote sensing image generation among leading models.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56" y="279678"/>
            <a:ext cx="9259372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4 — Fine-Tuning Strategy: Hybrid Data Composition &amp; Training Approach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06956" y="749046"/>
            <a:ext cx="3062049" cy="261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Part A: Why Parameter-Efficient Fine-Tuning (PEFT)?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956" y="1112401"/>
            <a:ext cx="13610127" cy="375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Robustness Preservation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Full fine-tuning often leads to a degradation in model robustness and can compromise zero-shot generalization capabilities. PEFT methods, particularly LoRA, mitigate this issue effectively.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956" y="1577469"/>
            <a:ext cx="13610127" cy="415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Proven Effectiveness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Recent research, such as Zavras et al. (2025), has consistently demonstrated the strong efficacy of LoRA in maintaining model performance while dramatically reducing trainable parameters.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956" y="2054554"/>
            <a:ext cx="6784181" cy="12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LoRA Setup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956" y="2328430"/>
            <a:ext cx="6784181" cy="269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 (r)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16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956" y="2659833"/>
            <a:ext cx="6784181" cy="354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Alpha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32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956" y="3014583"/>
            <a:ext cx="6784181" cy="213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Dropout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0.05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956" y="3379508"/>
            <a:ext cx="6784181" cy="256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Modules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Focused on critical layers in both vision and text encoders: </a:t>
            </a:r>
            <a:r>
              <a:rPr lang="en-US" sz="1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visual.layer4.2.conv3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visual.attnpool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transformer.resblocks.11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956" y="3901346"/>
            <a:ext cx="6784181" cy="213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This configuration yields only </a:t>
            </a: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million trainable parameters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which is an incredibly efficient </a:t>
            </a: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1.6%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the total 500 million model parameters. </a:t>
            </a:r>
            <a:r>
              <a:rPr lang="en-US" sz="1200" dirty="0">
                <a:solidFill>
                  <a:srgbClr val="008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56" y="4328254"/>
            <a:ext cx="3831550" cy="284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Part B: Hybrid Real-Synthetic Dataset Composition (Key Strategy)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6956" y="4877728"/>
            <a:ext cx="13420556" cy="49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Our data composition strategy is informed by findings from Geng et al. (NeurIPS 2024), who showed that a targeted retrieval of real data consistently outperforms purely synthetic generation. This hybrid approach capitalizes on the strengths of both data sources.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956" y="5636963"/>
            <a:ext cx="13610127" cy="47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RS Data (40%)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Comprises 200,000 pairs, including RSICD data enriched with our M2B+B2C pipeline and additional data from retrieval-based augmentation. This provides authentic and grounded captions and imagery.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956" y="6374871"/>
            <a:ext cx="13420556" cy="5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Synthetic Data (30%)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Consists of 150,000 pairs generated via our optimized 5-stage pipeline with stringent quality filtering. This augments data variety without requiring expensive manual annotation.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956" y="7214839"/>
            <a:ext cx="13420556" cy="494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Augmented Data (30%)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Also 150,000 pairs, created through spatial augmentations (e.g., crops, rotations) applied to real data. This adds diversity through geometric transformations without introducing domain gap risks.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Vision-Language Model Benchmarking: Complete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14761"/>
            <a:ext cx="859759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/>
              <a:t>Subtitle: Architecture Comparison &amp; Performance Analysis for Remote Sensing Vision-Language Retrieval</a:t>
            </a:r>
          </a:p>
          <a:p>
            <a:endParaRPr dirty="0"/>
          </a:p>
          <a:p>
            <a:r>
              <a:rPr dirty="0"/>
              <a:t>Key Context:</a:t>
            </a:r>
          </a:p>
          <a:p>
            <a:r>
              <a:rPr dirty="0"/>
              <a:t>- 4 state-of-the-art vision-language models evaluated</a:t>
            </a:r>
          </a:p>
          <a:p>
            <a:r>
              <a:rPr dirty="0"/>
              <a:t>- Performance metrics across Quality, Speed, Memory, and Keyword Detection</a:t>
            </a:r>
          </a:p>
          <a:p>
            <a:r>
              <a:rPr dirty="0"/>
              <a:t>- Critical trade-offs identified for production deployment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280218"/>
              </p:ext>
            </p:extLst>
          </p:nvPr>
        </p:nvGraphicFramePr>
        <p:xfrm>
          <a:off x="613317" y="2877016"/>
          <a:ext cx="13626792" cy="5020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6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6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398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dirty="0"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dirty="0"/>
                        <a:t>Model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Combined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Performance 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0858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🥇 1st</a:t>
                      </a:r>
                    </a:p>
                  </a:txBody>
                  <a:tcPr>
                    <a:solidFill>
                      <a:srgbClr val="FFDF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Qwen2VL-</a:t>
                      </a:r>
                      <a:r>
                        <a:rPr lang="en-US" dirty="0"/>
                        <a:t>7</a:t>
                      </a:r>
                      <a:r>
                        <a:rPr dirty="0"/>
                        <a:t>B</a:t>
                      </a:r>
                    </a:p>
                  </a:txBody>
                  <a:tcPr>
                    <a:solidFill>
                      <a:srgbClr val="FFDF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0.532 ✓</a:t>
                      </a:r>
                    </a:p>
                  </a:txBody>
                  <a:tcPr>
                    <a:solidFill>
                      <a:srgbClr val="FFDF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Quality: 0.628 (Highest) | Speed: 85.50s | Memory: 12.7GB | Keywords: 7.2/10</a:t>
                      </a:r>
                    </a:p>
                  </a:txBody>
                  <a:tcPr>
                    <a:solidFill>
                      <a:srgbClr val="FFDF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094">
                <a:tc>
                  <a:txBody>
                    <a:bodyPr/>
                    <a:lstStyle/>
                    <a:p>
                      <a:pPr algn="ctr"/>
                      <a:r>
                        <a:t>🥈 2nd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LLaVA OneVision-7B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0.501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Quality: 0.476 | Speed: 3.28s (Fastest) | Memory: 15.0GB (Highest) | Keywords: 7.2/10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2458">
                <a:tc>
                  <a:txBody>
                    <a:bodyPr/>
                    <a:lstStyle/>
                    <a:p>
                      <a:pPr algn="ctr"/>
                      <a:r>
                        <a:t>🥉 3rd</a:t>
                      </a:r>
                    </a:p>
                  </a:txBody>
                  <a:tcPr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InternVL3-8B</a:t>
                      </a:r>
                    </a:p>
                  </a:txBody>
                  <a:tcPr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0.483</a:t>
                      </a:r>
                    </a:p>
                  </a:txBody>
                  <a:tcPr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Quality: 0.551 | Speed: 53.93s | Memory: 12.9GB | Keywords: 6.8/10</a:t>
                      </a:r>
                    </a:p>
                  </a:txBody>
                  <a:tcPr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3609">
                <a:tc>
                  <a:txBody>
                    <a:bodyPr/>
                    <a:lstStyle/>
                    <a:p>
                      <a:pPr algn="ctr"/>
                      <a:r>
                        <a:t>⚠ 4th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InternVL2-4B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0.194 ✗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Quality: 0.060 (Critical) | Speed: 0.22s (Fastest but useless) | Memory: 7.8GB | Keywords: 0.0 (FAIL)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2266</Words>
  <Application>Microsoft Office PowerPoint</Application>
  <PresentationFormat>Custom</PresentationFormat>
  <Paragraphs>232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</vt:lpstr>
      <vt:lpstr>Arial</vt:lpstr>
      <vt:lpstr>Host Grotesk Medium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ANSH NOHRIA</cp:lastModifiedBy>
  <cp:revision>9</cp:revision>
  <dcterms:created xsi:type="dcterms:W3CDTF">2025-11-25T20:37:37Z</dcterms:created>
  <dcterms:modified xsi:type="dcterms:W3CDTF">2025-12-10T19:58:02Z</dcterms:modified>
</cp:coreProperties>
</file>